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8F560"/>
          </a:solidFill>
          <a:ln w="12700">
            <a:solidFill>
              <a:srgbClr val="C8F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60A0F"/>
          </a:solidFill>
          <a:ln w="12700">
            <a:solidFill>
              <a:srgbClr val="060A0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12700">
            <a:solidFill>
              <a:srgbClr val="1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DDE3EE"/>
                </a:solidFill>
              </a:rPr>
              <a:t>ARCTIC NUCLEAR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DDE3EE"/>
                </a:solidFill>
              </a:rPr>
              <a:t>NECESSITY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F560"/>
                </a:solidFill>
              </a:rPr>
              <a:t>A Data-Driven Case for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8F560"/>
                </a:solidFill>
              </a:rPr>
              <a:t>Micro-Reactors in Northern Canada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CSMC STEM Intern Candidate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846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DE3EE"/>
                </a:solidFill>
              </a:rPr>
              <a:t>[Your Name]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5120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[Date]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457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C8F560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097280"/>
            <a:ext cx="7040880" cy="3657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E3EE"/>
                </a:solidFill>
              </a:rPr>
              <a:t>200+ Canadian communities above 60°N have no grid connection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E3EE"/>
                </a:solidFill>
              </a:rPr>
              <a:t>Diesel fuel costs $2–4/L to transport — up to 10× southern prices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E3EE"/>
                </a:solidFill>
              </a:rPr>
              <a:t>Climate targets make diesel-only futures politically untenable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DDE3EE"/>
                </a:solidFill>
              </a:rPr>
              <a:t>Renewable energy (solar/wind) fails for 4–5 months every winter
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C8F560"/>
                </a:solidFill>
              </a:rPr>
              <a:t>Question: What is the only reliable baseload solution?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A3A"/>
                </a:solidFill>
              </a:rPr>
              <a:t>DATA SOURCES: NASA POWER API  ·  STATISTICS CANADA 2021  ·  NRCAN ARCTIC ENERGY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8F560"/>
          </a:solidFill>
          <a:ln w="12700">
            <a:solidFill>
              <a:srgbClr val="C8F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C8F5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2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3EE"/>
                </a:solidFill>
              </a:rPr>
              <a:t>10 Years of Evidence: Renewables Fail in Winter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777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F560"/>
                </a:solidFill>
              </a:rPr>
              <a:t>NASA POWER CLIMATE DATA · 68°N, 110°W · 2015–2024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943600" cy="0"/>
          </a:xfrm>
          <a:prstGeom prst="line">
            <a:avLst/>
          </a:prstGeom>
          <a:noFill/>
          <a:ln w="12700">
            <a:solidFill>
              <a:srgbClr val="1A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943600" cy="5120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E3EE"/>
                </a:solidFill>
              </a:rPr>
              <a:t>10-year NASA POWER dataset (120 monthly records) analyzed at 68°N, 110°W — representative of Nunavut/NWT deployment candidates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DE3EE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4D4D"/>
                </a:solidFill>
              </a:rPr>
              <a:t>Solar irradiance drops to &lt;2% of summer peak Nov–Feb (polar night)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F4D4D"/>
                </a:solidFill>
              </a:rPr>
              <a:t>Combined solar + wind = 0.038 MW in January vs 1 MW baseline (3.8%)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DE3EE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E3EE"/>
                </a:solidFill>
              </a:rPr>
              <a:t>Key finding: RERS (Renewable Energy Reliability Score) &lt; 0.10 in Nov–Feb across ALL 10 years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9AA"/>
                </a:solidFill>
              </a:rPr>
              <a:t>Year-to-year variance in winter: σ = 0.019 — this is a permanent climate feature, not a weather event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DE3EE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C8F560"/>
                </a:solidFill>
              </a:rPr>
              <a:t>The shaded area shows what nuclear must fill every single winter</a:t>
            </a:r>
            <a:endParaRPr lang="en-US" sz="1300" dirty="0"/>
          </a:p>
        </p:txBody>
      </p:sp>
      <p:pic>
        <p:nvPicPr>
          <p:cNvPr id="9" name="Image 0" descr="/home/claude/csmc_arctic_project/charts/chart1_seasonal_energy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05840"/>
            <a:ext cx="4937760" cy="5120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A3A"/>
                </a:solidFill>
              </a:rPr>
              <a:t>ARCTIC NUCLEAR NECESSITY  ·  CSMC STEM INTERN PROJECT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8F560"/>
          </a:solidFill>
          <a:ln w="12700">
            <a:solidFill>
              <a:srgbClr val="C8F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C8F5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2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3EE"/>
                </a:solidFill>
              </a:rPr>
              <a:t>The Gap is Structural — Not Anomalous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777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F560"/>
                </a:solidFill>
              </a:rPr>
              <a:t>RERS HEATMAP · YEAR × MONTH ANALYSIS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943600" cy="0"/>
          </a:xfrm>
          <a:prstGeom prst="line">
            <a:avLst/>
          </a:prstGeom>
          <a:noFill/>
          <a:ln w="12700">
            <a:solidFill>
              <a:srgbClr val="1A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943600" cy="5120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E3EE"/>
                </a:solidFill>
              </a:rPr>
              <a:t>Every cell in the Nov–Feb columns is red — across all 10 years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DE3EE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8899AA"/>
                </a:solidFill>
              </a:rPr>
              <a:t>This rules out: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8899AA"/>
                </a:solidFill>
              </a:rPr>
              <a:t>A bad weather year (it repeats every year)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8899AA"/>
                </a:solidFill>
              </a:rPr>
              <a:t>Equipment failure (this is satellite-derived climate data)</a:t>
            </a:r>
            <a:endParaRPr lang="en-US" sz="1300" dirty="0"/>
          </a:p>
          <a:p>
            <a:pPr lvl="1" marL="685800" indent="-342900">
              <a:buSzPct val="100000"/>
              <a:buChar char="•"/>
            </a:pPr>
            <a:r>
              <a:rPr lang="en-US" sz="1200" dirty="0">
                <a:solidFill>
                  <a:srgbClr val="8899AA"/>
                </a:solidFill>
              </a:rPr>
              <a:t>An anomalous location (this is the Arctic — all sites above 65°N show this pattern)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DE3EE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8F560"/>
                </a:solidFill>
              </a:rPr>
              <a:t>What this confirms: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C8F560"/>
                </a:solidFill>
              </a:rPr>
              <a:t>Polar night is a fixed annual event. Nuclear is not optional — it is the baseload.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DE3EE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E3EE"/>
                </a:solidFill>
              </a:rPr>
              <a:t>May–Aug window shows viable renewable output (RERS 0.65–0.85)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9AA"/>
                </a:solidFill>
              </a:rPr>
              <a:t>This is the window for reactor maintenance scheduling</a:t>
            </a:r>
            <a:endParaRPr lang="en-US" sz="1300" dirty="0"/>
          </a:p>
        </p:txBody>
      </p:sp>
      <p:pic>
        <p:nvPicPr>
          <p:cNvPr id="9" name="Image 0" descr="/home/claude/csmc_arctic_project/charts/chart2_rers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05840"/>
            <a:ext cx="4937760" cy="5120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A3A"/>
                </a:solidFill>
              </a:rPr>
              <a:t>ARCTIC NUCLEAR NECESSITY  ·  CSMC STEM INTERN PROJECT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8F560"/>
          </a:solidFill>
          <a:ln w="12700">
            <a:solidFill>
              <a:srgbClr val="C8F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C8F5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2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3EE"/>
                </a:solidFill>
              </a:rPr>
              <a:t>Risk Without Nuclear: Critical on Every Dimension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777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F560"/>
                </a:solidFill>
              </a:rPr>
              <a:t>5×5 LIKELIHOOD × IMPACT RISK REGISTER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943600" cy="0"/>
          </a:xfrm>
          <a:prstGeom prst="line">
            <a:avLst/>
          </a:prstGeom>
          <a:noFill/>
          <a:ln w="12700">
            <a:solidFill>
              <a:srgbClr val="1A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943600" cy="5120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E3EE"/>
                </a:solidFill>
              </a:rPr>
              <a:t>7 energy supply risks identified and assessed: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DE3EE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4D4D"/>
                </a:solidFill>
              </a:rPr>
              <a:t>R-01  Polar Night Solar Blackout     L5 × I5 = 25  CRITICAL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4D4D"/>
                </a:solidFill>
              </a:rPr>
              <a:t>R-02  Wind Turbine Icing (&lt;−30°C)   L4 × I4 = 16  CRITICAL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FF4D4D"/>
                </a:solidFill>
              </a:rPr>
              <a:t>R-03  Diesel Resupply Disruption    L3 × I5 = 15  CRITICAL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A623"/>
                </a:solidFill>
              </a:rPr>
              <a:t>R-05  Permafrost Foundation Thaw    L3 × I4 = 12  Medium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A623"/>
                </a:solidFill>
              </a:rPr>
              <a:t>R-06  CNSC Regulatory Delay         L3 × I4 = 12  Medium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A623"/>
                </a:solidFill>
              </a:rPr>
              <a:t>R-04  Reactor Maintenance Downtime  L2 × I5 = 10  Medium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A623"/>
                </a:solidFill>
              </a:rPr>
              <a:t>R-07  Community Acceptance Risk     L3 × I3 = 9   Medium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DE3EE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C8F560"/>
                </a:solidFill>
              </a:rPr>
              <a:t>Key insight: R-01, R-02, R-03 are all directly eliminated by nuclear deployment</a:t>
            </a:r>
            <a:endParaRPr lang="en-US" sz="1300" dirty="0"/>
          </a:p>
        </p:txBody>
      </p:sp>
      <p:pic>
        <p:nvPicPr>
          <p:cNvPr id="9" name="Image 0" descr="/home/claude/csmc_arctic_project/charts/chart4_risk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05840"/>
            <a:ext cx="4937760" cy="5120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A3A"/>
                </a:solidFill>
              </a:rPr>
              <a:t>ARCTIC NUCLEAR NECESSITY  ·  CSMC STEM INTERN PROJECT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8F560"/>
          </a:solidFill>
          <a:ln w="12700">
            <a:solidFill>
              <a:srgbClr val="C8F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solidFill>
            <a:srgbClr val="C8F5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C12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16459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E3EE"/>
                </a:solidFill>
              </a:rPr>
              <a:t>Right-Sized for Every Community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7772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C8F560"/>
                </a:solidFill>
              </a:rPr>
              <a:t>MICRO-REACTOR SIZING · 30% SAFETY MARGIN · NRCan 35 kWh/PERSON/DAY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943600" cy="0"/>
          </a:xfrm>
          <a:prstGeom prst="line">
            <a:avLst/>
          </a:prstGeom>
          <a:noFill/>
          <a:ln w="12700">
            <a:solidFill>
              <a:srgbClr val="1A2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5943600" cy="5120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DE3EE"/>
                </a:solidFill>
              </a:rPr>
              <a:t>Reactor sizing model applied to 5 Northern Canadian communities: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DE3EE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DDE3EE"/>
                </a:solidFill>
              </a:rPr>
              <a:t>Resolute, NU      208 people    →   0.33 MWe  ← smallest CSMC configuration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E3EE"/>
                </a:solidFill>
              </a:rPr>
              <a:t>Inuvik, NT      3,243 people    →   6.13 MWe  ← proof-of-concept scale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E3EE"/>
                </a:solidFill>
              </a:rPr>
              <a:t>Iqaluit, NU     7,429 people    →  14.04 MWe  ← territorial capital priority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DE3EE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Methodology: population × 35 kWh/day ÷ 24h = baseline MW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Nuclear gap = baseline − winter renewable floor (zone-adjusted)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Reactor size = gap × 1.30 (30% engineering safety margin)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DE3EE"/>
                </a:solidFill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C8F560"/>
                </a:solidFill>
              </a:rPr>
              <a:t>Dual-use opportunity: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F560"/>
                </a:solidFill>
              </a:rPr>
              <a:t>Same 1–15 MWe range needed for lunar/Mars surface power (NASA FSP program)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F560"/>
                </a:solidFill>
              </a:rPr>
              <a:t>Arctic deployment = Earth-based qualification heritage for space</a:t>
            </a:r>
            <a:endParaRPr lang="en-US" sz="1300" dirty="0"/>
          </a:p>
        </p:txBody>
      </p:sp>
      <p:pic>
        <p:nvPicPr>
          <p:cNvPr id="9" name="Image 0" descr="/home/claude/csmc_arctic_project/charts/chart3_reactor_siz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005840"/>
            <a:ext cx="4937760" cy="5120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A3A"/>
                </a:solidFill>
              </a:rPr>
              <a:t>ARCTIC NUCLEAR NECESSITY  ·  CSMC STEM INTERN PROJECT  ·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80C12"/>
          </a:solidFill>
          <a:ln w="12700">
            <a:solidFill>
              <a:srgbClr val="080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C8F560"/>
          </a:solidFill>
          <a:ln w="12700">
            <a:solidFill>
              <a:srgbClr val="C8F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E3EE"/>
                </a:solidFill>
              </a:rPr>
              <a:t>CONCLUSIONS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1521440" cy="0"/>
          </a:xfrm>
          <a:prstGeom prst="line">
            <a:avLst/>
          </a:prstGeom>
          <a:noFill/>
          <a:ln w="12700">
            <a:solidFill>
              <a:srgbClr val="1A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14400"/>
            <a:ext cx="502920" cy="502920"/>
          </a:xfrm>
          <a:prstGeom prst="rect">
            <a:avLst/>
          </a:prstGeom>
          <a:solidFill>
            <a:srgbClr val="C8F560"/>
          </a:solidFill>
          <a:ln w="12700">
            <a:solidFill>
              <a:srgbClr val="C8F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2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95097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3EE"/>
                </a:solidFill>
              </a:rPr>
              <a:t>The Arctic renewable energy gap is structural and quantifiable from public 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502920" cy="502920"/>
          </a:xfrm>
          <a:prstGeom prst="rect">
            <a:avLst/>
          </a:prstGeom>
          <a:solidFill>
            <a:srgbClr val="C8F560"/>
          </a:solidFill>
          <a:ln w="12700">
            <a:solidFill>
              <a:srgbClr val="C8F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2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9110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3EE"/>
                </a:solidFill>
              </a:rPr>
              <a:t>No combination of solar, wind, and storage can sustain communities through polar winter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502920" cy="502920"/>
          </a:xfrm>
          <a:prstGeom prst="rect">
            <a:avLst/>
          </a:prstGeom>
          <a:solidFill>
            <a:srgbClr val="C8F560"/>
          </a:solidFill>
          <a:ln w="12700">
            <a:solidFill>
              <a:srgbClr val="C8F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2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87121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3EE"/>
                </a:solidFill>
              </a:rPr>
              <a:t>Micro-nuclear reactors in the 0.33–14+ MWe range cover the full Arctic community spectrum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794760"/>
            <a:ext cx="502920" cy="502920"/>
          </a:xfrm>
          <a:prstGeom prst="rect">
            <a:avLst/>
          </a:prstGeom>
          <a:solidFill>
            <a:srgbClr val="C8F560"/>
          </a:solidFill>
          <a:ln w="12700">
            <a:solidFill>
              <a:srgbClr val="C8F5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2"/>
                </a:solidFill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83133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3EE"/>
                </a:solidFill>
              </a:rPr>
              <a:t>Resolute and Inuvik are lowest-complexity first-mover deployment opportunities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4754880"/>
            <a:ext cx="502920" cy="502920"/>
          </a:xfrm>
          <a:prstGeom prst="rect">
            <a:avLst/>
          </a:prstGeom>
          <a:solidFill>
            <a:srgbClr val="C8F560"/>
          </a:solidFill>
          <a:ln w="12700">
            <a:solidFill>
              <a:srgbClr val="C8F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754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0C12"/>
                </a:solidFill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79145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3EE"/>
                </a:solidFill>
              </a:rPr>
              <a:t>Arctic qualification directly supports CSMC's space and defence market positioning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2A3A"/>
                </a:solidFill>
              </a:rPr>
              <a:t>DATA SOURCES: NASA POWER API  ·  STATISTICS CANADA 2021  ·  NRCAN ARCTIC ENERGY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Nuclear Necessity</dc:title>
  <dc:subject>PptxGenJS Presentation</dc:subject>
  <dc:creator>CSMC STEM Intern Candidate</dc:creator>
  <cp:lastModifiedBy>CSMC STEM Intern Candidate</cp:lastModifiedBy>
  <cp:revision>1</cp:revision>
  <dcterms:created xsi:type="dcterms:W3CDTF">2026-03-06T22:54:43Z</dcterms:created>
  <dcterms:modified xsi:type="dcterms:W3CDTF">2026-03-06T22:54:43Z</dcterms:modified>
</cp:coreProperties>
</file>